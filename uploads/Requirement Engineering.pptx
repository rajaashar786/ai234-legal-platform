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57" r:id="rId9"/>
    <p:sldId id="258" r:id="rId10"/>
    <p:sldId id="25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DD62E-F63A-4022-978F-848FE968A63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DDE49-0136-4273-AE00-9B831F509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3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DDE49-0136-4273-AE00-9B831F509C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1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5774-A0E3-AAD0-DA7B-A268265A2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CE9E9-05B3-4DB5-ADEB-816EB4F9F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F243C-097D-0E17-989F-335C1384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82DB0-2929-CC1D-56F6-36A87083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EAF74-C58F-F152-C3A7-16B8CD68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0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E28D-ABD0-8945-A8A7-C778B971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593C-0682-E8B5-33B8-34D29811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693FF-81D8-003A-C186-A2FA2EC3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4849D-B870-803D-AB48-62A46178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8A0F-D5AA-8820-990F-EA53FDA2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4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F4CF8-AB79-B769-2B3B-CF922715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48EA8-FD39-8905-39BB-E00C3C69F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541A-B0C7-A500-DFBF-6A000C0B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713E-3350-0EB9-C2DA-41816944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5563B-ECC7-3659-1042-9356E1A6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9C1F-7C85-A60C-5FF1-39D45624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CC3EF-5A2C-E969-5C33-F6421C996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AFC8-835F-8AFA-2907-3E6B858B5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1B17E-CD0F-CAFD-14A5-DB17CF63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4478-6B65-95A6-090F-9CDF7FAD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F5E2A-E219-18E9-05FE-1174ADFF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0EA1-480D-EEFD-4162-27ED728A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B4E1-A74E-C5FF-3C87-930045F42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6CD39-3709-4F2D-3450-A4C81F9E7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79EF5-4C64-6FF4-6974-635F7FE82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13158-B057-F7D8-20CC-39DEF4D25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BD407-AB39-94EF-F51A-8B463A46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FA8D4-FDCD-3C9E-7460-00F34B73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50431-5808-564D-D3C9-A016DA81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8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A71F-A76F-C241-96ED-38EF3153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FB164-8400-81D0-27AC-44726942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EC843-4049-50C3-38DA-4D4379F1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FA59C-21F0-6C5E-7FFB-F883F2A0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2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B739E-5386-A9D3-4BE1-430A6862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6C246-2148-3ED0-B89B-19719C36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F2C05-BE74-F6E3-9BC6-B96E828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1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6200-E139-AAD1-7BFB-031BC4BC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8BC5-093A-AAE1-5867-2BFBFCFCF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0478E-2005-07DF-6204-A4B64E105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15218-6C7D-41B2-95A0-20B00369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489DA-5585-41A0-7218-C3EED873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E10A8-48BC-3838-F098-6D0B0341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8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3E25-7ABE-99CD-8599-B49671BA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15228-F57E-A1FC-2BBC-38EF42060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D452E-C281-BAD8-6DAC-2B9623AB1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71259-56A0-B78A-8542-5EB809624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EC610-D2ED-0195-259B-BE30F327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A8D27-C112-A194-23B8-2F8C3704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4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2FC-3BD2-5671-04C1-308E9EA2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3877-F82A-754B-ACC8-E1A193ABC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87128-52DF-9C3F-DB90-6E8776C8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AA4C-E131-4DA1-D279-32C99653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1991-806C-48CF-927B-DDD05C1E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4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32351-E67A-465C-5F03-22FD74F62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887A1-9D4F-59E2-C772-A3799AC5F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70B33-A1F5-4CC8-D9DA-913FFC7C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58920-BFC2-3E64-1785-F9B01488A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9D0C-0433-62C0-7AF9-48C53A95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9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0A931-D827-8241-193B-6AA71CB1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CD9EB-70E0-E834-0B4D-68166E7FC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8F208-DD61-D5BC-96FF-CB80BFD80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50D03-87A9-43A5-8CFF-7155A9854CB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2C80-CD12-9A05-93DC-9EF6005AE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1FFEF-CC0A-D459-49AB-91EA7E848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08287-84B6-4CBA-B2DF-150B6E990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7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7F24-A6F7-4EC9-B5B9-92B534E36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Requirement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127EE-77DC-728E-3775-0D0280DE48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BY: Farah Naz Anika</a:t>
            </a:r>
          </a:p>
        </p:txBody>
      </p:sp>
    </p:spTree>
    <p:extLst>
      <p:ext uri="{BB962C8B-B14F-4D97-AF65-F5344CB8AC3E}">
        <p14:creationId xmlns:p14="http://schemas.microsoft.com/office/powerpoint/2010/main" val="249755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1A7C-0A64-B956-3B1B-B8D29BB7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Feasibility 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CB79-96AF-0DF8-C0ED-0117F57D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Scenario: Feasibility Study for an Online Food Delivery System</a:t>
            </a:r>
            <a:endParaRPr lang="en-US" dirty="0"/>
          </a:p>
          <a:p>
            <a:r>
              <a:rPr lang="en-US" dirty="0"/>
              <a:t>A software company receives a request from a restaurant chain to develop an </a:t>
            </a:r>
            <a:r>
              <a:rPr lang="en-US" b="1" dirty="0"/>
              <a:t>Online Food Delivery System</a:t>
            </a:r>
            <a:r>
              <a:rPr lang="en-US" dirty="0"/>
              <a:t>. The system should allow customers to browse menus, place orders, track delivery, and make online payments.</a:t>
            </a:r>
          </a:p>
          <a:p>
            <a:r>
              <a:rPr lang="en-US" dirty="0"/>
              <a:t>Before starting development, the company decides to conduct a </a:t>
            </a:r>
            <a:r>
              <a:rPr lang="en-US" b="1" dirty="0"/>
              <a:t>Feasibility Study</a:t>
            </a:r>
            <a:r>
              <a:rPr lang="en-US" dirty="0"/>
              <a:t> to determine whether the project should proceed.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93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6AD2-D3A9-6385-0584-ECD6F7A1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FEA6-F6D1-ABD3-3CB5-8E81F28B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🔍 Feasibility Analysis</a:t>
            </a:r>
            <a:endParaRPr lang="en-US" dirty="0"/>
          </a:p>
          <a:p>
            <a:r>
              <a:rPr lang="en-US" b="1" dirty="0"/>
              <a:t>1. Technical Feasibility</a:t>
            </a:r>
            <a:endParaRPr lang="en-US" dirty="0"/>
          </a:p>
          <a:p>
            <a:r>
              <a:rPr lang="en-US" dirty="0"/>
              <a:t>The team analyzes whether they have the required technology and skills:</a:t>
            </a:r>
          </a:p>
          <a:p>
            <a:pPr lvl="0"/>
            <a:r>
              <a:rPr lang="en-US" dirty="0"/>
              <a:t>Developers are experienced in web and mobile app development. </a:t>
            </a:r>
          </a:p>
          <a:p>
            <a:pPr lvl="0"/>
            <a:r>
              <a:rPr lang="en-US" dirty="0"/>
              <a:t>Required tools (e.g., databases, payment gateways, GPS tracking) are available. </a:t>
            </a:r>
          </a:p>
          <a:p>
            <a:pPr lvl="0"/>
            <a:r>
              <a:rPr lang="en-US" dirty="0"/>
              <a:t>Integration with delivery tracking systems is possible. </a:t>
            </a:r>
          </a:p>
          <a:p>
            <a:r>
              <a:rPr lang="en-US" dirty="0"/>
              <a:t>✅ Result: Technically feasible.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02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DB15-5E16-9722-DE99-9F9726F3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0B99-931A-7639-F2C8-147F19DE2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Economic Feasibility</a:t>
            </a:r>
            <a:endParaRPr lang="en-US" dirty="0"/>
          </a:p>
          <a:p>
            <a:r>
              <a:rPr lang="en-US" dirty="0"/>
              <a:t>The company compares cost vs benefit:</a:t>
            </a:r>
          </a:p>
          <a:p>
            <a:pPr lvl="0"/>
            <a:r>
              <a:rPr lang="en-US" dirty="0"/>
              <a:t>Development cost: $20,000 </a:t>
            </a:r>
          </a:p>
          <a:p>
            <a:pPr lvl="0"/>
            <a:r>
              <a:rPr lang="en-US" dirty="0"/>
              <a:t>Maintenance cost: $5,000/year </a:t>
            </a:r>
          </a:p>
          <a:p>
            <a:pPr lvl="0"/>
            <a:r>
              <a:rPr lang="en-US" dirty="0"/>
              <a:t>Expected revenue increase for restaurant: $50,000/year </a:t>
            </a:r>
          </a:p>
          <a:p>
            <a:r>
              <a:rPr lang="en-US" dirty="0"/>
              <a:t>✅ Result: Profitable in the long run.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3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6192-0570-05E0-DFC6-57074A24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E16A6-2C5A-9653-FBDA-A847640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Operational Feasibility</a:t>
            </a:r>
            <a:endParaRPr lang="en-US" dirty="0"/>
          </a:p>
          <a:p>
            <a:r>
              <a:rPr lang="en-US" dirty="0"/>
              <a:t>Checks if the system will work in real-world operations:</a:t>
            </a:r>
          </a:p>
          <a:p>
            <a:pPr lvl="0"/>
            <a:r>
              <a:rPr lang="en-US" dirty="0"/>
              <a:t>Staff can be trained easily. </a:t>
            </a:r>
          </a:p>
          <a:p>
            <a:pPr lvl="0"/>
            <a:r>
              <a:rPr lang="en-US" dirty="0"/>
              <a:t>Customers are already familiar with online ordering. </a:t>
            </a:r>
          </a:p>
          <a:p>
            <a:pPr lvl="0"/>
            <a:r>
              <a:rPr lang="en-US" dirty="0"/>
              <a:t>Restaurant workflow can support online orders. </a:t>
            </a:r>
          </a:p>
          <a:p>
            <a:r>
              <a:rPr lang="en-US" dirty="0"/>
              <a:t>✅ Result: Operationally feasible.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1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9FA7-6A82-2984-3D9C-D1AAD86E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5142-6299-9D6F-81BE-4F3EFBE80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Legal Feasibility</a:t>
            </a:r>
            <a:endParaRPr lang="en-US" dirty="0"/>
          </a:p>
          <a:p>
            <a:r>
              <a:rPr lang="en-US" dirty="0"/>
              <a:t>Ensures compliance with laws:</a:t>
            </a:r>
          </a:p>
          <a:p>
            <a:pPr lvl="0"/>
            <a:r>
              <a:rPr lang="en-US" dirty="0"/>
              <a:t>Data protection laws (customer data security) </a:t>
            </a:r>
          </a:p>
          <a:p>
            <a:pPr lvl="0"/>
            <a:r>
              <a:rPr lang="en-US" dirty="0"/>
              <a:t>Online payment regulations </a:t>
            </a:r>
          </a:p>
          <a:p>
            <a:r>
              <a:rPr lang="en-US" dirty="0"/>
              <a:t>✅ Result: No major legal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52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7253-1A5D-DA1D-AE34-DDAE36CD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4D61-5D23-5DCE-9AB4-C02C5E90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Schedule Feasibility</a:t>
            </a:r>
            <a:endParaRPr lang="en-US" dirty="0"/>
          </a:p>
          <a:p>
            <a:r>
              <a:rPr lang="en-US" dirty="0"/>
              <a:t>Checks if the project can be completed on time:</a:t>
            </a:r>
          </a:p>
          <a:p>
            <a:pPr lvl="0"/>
            <a:r>
              <a:rPr lang="en-US" dirty="0"/>
              <a:t>Estimated time: 3 months </a:t>
            </a:r>
          </a:p>
          <a:p>
            <a:pPr lvl="0"/>
            <a:r>
              <a:rPr lang="en-US" dirty="0"/>
              <a:t>Deadline given by client: 4 months </a:t>
            </a:r>
          </a:p>
          <a:p>
            <a:r>
              <a:rPr lang="en-US" dirty="0"/>
              <a:t>✅ Result: Can be completed within deadline.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8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47DD-5870-1F59-B19B-72FA2BE9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 Elicitation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9381-2440-B8B4-858E-C296B1E55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Scenario: Requirement Elicitation for an Online Student Portal System</a:t>
            </a:r>
          </a:p>
          <a:p>
            <a:r>
              <a:rPr lang="en-US" dirty="0"/>
              <a:t>A university plans to develop an </a:t>
            </a:r>
            <a:r>
              <a:rPr lang="en-US" b="1" dirty="0"/>
              <a:t>Online Student Portal System</a:t>
            </a:r>
            <a:r>
              <a:rPr lang="en-US" dirty="0"/>
              <a:t> where students can register for courses, view attendance, check results, download fee vouchers, and communicate with faculty. Before starting development, the software team performs </a:t>
            </a:r>
            <a:r>
              <a:rPr lang="en-US" b="1" dirty="0"/>
              <a:t>requirement elicitation</a:t>
            </a:r>
            <a:r>
              <a:rPr lang="en-US" dirty="0"/>
              <a:t> to understand the exact needs of users.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🔍 Elicitation Process Scenario</a:t>
            </a:r>
          </a:p>
          <a:p>
            <a:r>
              <a:rPr lang="en-US" dirty="0"/>
              <a:t>The development team meets different stakeholders including students, teachers, and administration staff.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89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85CB4-D9BE-18D8-0475-8BE8C9C50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190"/>
            <a:ext cx="10515600" cy="5799773"/>
          </a:xfrm>
        </p:spPr>
        <p:txBody>
          <a:bodyPr>
            <a:normAutofit fontScale="32500" lnSpcReduction="20000"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👨‍🎓 Interviews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The analyst conducts interviews with students and asks: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What problems do you face in the current system?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Which features do you want in the portal?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Students respond that they want: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Easy course registration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Instant result access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Mobile-friendly interface </a:t>
            </a:r>
            <a:b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📋 Questionnaires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Online surveys are shared with a large number of students to collect feedback. Many students suggest: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Notification alerts for deadlines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Fee payment tracking </a:t>
            </a:r>
          </a:p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Attendance updates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93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004C-E07C-882A-E403-89ACA5271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5780"/>
            <a:ext cx="10515600" cy="5651183"/>
          </a:xfrm>
        </p:spPr>
        <p:txBody>
          <a:bodyPr>
            <a:normAutofit fontScale="32500" lnSpcReduction="20000"/>
          </a:bodyPr>
          <a:lstStyle/>
          <a:p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👀 Observation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The team observes the current manual system and notices: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Long queues in the admin office 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Delays in result distribution 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Paper-based attendance records </a:t>
            </a:r>
          </a:p>
          <a:p>
            <a:r>
              <a:rPr lang="en-US" sz="6200" b="1" dirty="0">
                <a:latin typeface="Arial" panose="020B0604020202020204" pitchFamily="34" charset="0"/>
                <a:cs typeface="Arial" panose="020B0604020202020204" pitchFamily="34" charset="0"/>
              </a:rPr>
              <a:t>👥 Workshops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A group discussion is held with faculty and admin staff. They suggest: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Role-based login (student, teacher, admin) 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Secure data management </a:t>
            </a:r>
          </a:p>
          <a:p>
            <a: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  <a:t>Integration with existing university database </a:t>
            </a:r>
            <a:br>
              <a:rPr lang="en-US" sz="6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400" b="1" dirty="0">
                <a:latin typeface="Arial" panose="020B0604020202020204" pitchFamily="34" charset="0"/>
                <a:cs typeface="Arial" panose="020B0604020202020204" pitchFamily="34" charset="0"/>
              </a:rPr>
              <a:t>🧠 Outcome</a:t>
            </a:r>
          </a:p>
          <a:p>
            <a:r>
              <a:rPr lang="en-US" sz="7400" dirty="0">
                <a:latin typeface="Arial" panose="020B0604020202020204" pitchFamily="34" charset="0"/>
                <a:cs typeface="Arial" panose="020B0604020202020204" pitchFamily="34" charset="0"/>
              </a:rPr>
              <a:t>After gathering all information, the team compiles the requirements into a structured document (SRS). It includes both functional and non-functional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0B1D-1997-7A60-F2C0-03917136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95E6-0218-3171-C384-DE18E0058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development team has been hired by a school to develop a </a:t>
            </a:r>
            <a:r>
              <a:rPr lang="en-US" b="1" dirty="0"/>
              <a:t>Student Management System</a:t>
            </a:r>
            <a:r>
              <a:rPr lang="en-US" dirty="0"/>
              <a:t>. The system should help manage student records, attendance, grades, and communication between teachers and parents.</a:t>
            </a:r>
          </a:p>
          <a:p>
            <a:r>
              <a:rPr lang="en-US" dirty="0"/>
              <a:t>At the beginning of the project, the client (school administration) only provides a basic idea:</a:t>
            </a:r>
          </a:p>
          <a:p>
            <a:r>
              <a:rPr lang="en-US" dirty="0"/>
              <a:t>“We need a system to manage students and improve communication.”</a:t>
            </a:r>
          </a:p>
          <a:p>
            <a:r>
              <a:rPr lang="en-US" dirty="0"/>
              <a:t>However, different stakeholders have different needs: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3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F87E-33D5-4AC4-4A84-4D7F3726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240B1-C199-27B2-B97E-C03C66792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b="1" dirty="0"/>
              <a:t>Principal</a:t>
            </a:r>
            <a:r>
              <a:rPr lang="en-US" dirty="0"/>
              <a:t> wants overall reports and performance analysis. </a:t>
            </a:r>
          </a:p>
          <a:p>
            <a:pPr lvl="0"/>
            <a:r>
              <a:rPr lang="en-US" b="1" dirty="0"/>
              <a:t>Teachers</a:t>
            </a:r>
            <a:r>
              <a:rPr lang="en-US" dirty="0"/>
              <a:t> want to mark attendance and upload grades easily. </a:t>
            </a:r>
          </a:p>
          <a:p>
            <a:pPr lvl="0"/>
            <a:r>
              <a:rPr lang="en-US" b="1" dirty="0"/>
              <a:t>Parents</a:t>
            </a:r>
            <a:r>
              <a:rPr lang="en-US" dirty="0"/>
              <a:t> want to receive updates about their child’s progress. </a:t>
            </a:r>
          </a:p>
          <a:p>
            <a:pPr lvl="0"/>
            <a:r>
              <a:rPr lang="en-US" b="1" dirty="0"/>
              <a:t>Students</a:t>
            </a:r>
            <a:r>
              <a:rPr lang="en-US" dirty="0"/>
              <a:t> want access to their results and assignments. </a:t>
            </a:r>
          </a:p>
          <a:p>
            <a:r>
              <a:rPr lang="en-US" dirty="0"/>
              <a:t>The development team must conduct meetings, interviews, and surveys to gather detailed requirements. They also need to identify:</a:t>
            </a:r>
          </a:p>
          <a:p>
            <a:pPr lvl="0"/>
            <a:r>
              <a:rPr lang="en-US" dirty="0"/>
              <a:t>Functional requirements (what the system should do) </a:t>
            </a:r>
          </a:p>
          <a:p>
            <a:pPr lvl="0"/>
            <a:r>
              <a:rPr lang="en-US" dirty="0"/>
              <a:t>Non-functional requirements (performance, security, usability, etc.) </a:t>
            </a:r>
          </a:p>
          <a:p>
            <a:pPr lvl="0"/>
            <a:r>
              <a:rPr lang="en-US" dirty="0"/>
              <a:t>Constraints (budget, time, technology)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5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85B2-3A25-2119-13AB-84680240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1A4F-926E-A13D-8989-733EF9B5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the above scenario and answer the following:</a:t>
            </a:r>
          </a:p>
          <a:p>
            <a:pPr lvl="0"/>
            <a:r>
              <a:rPr lang="en-US" dirty="0"/>
              <a:t>Identify all stakeholders involved in the system. </a:t>
            </a:r>
          </a:p>
          <a:p>
            <a:pPr lvl="0"/>
            <a:r>
              <a:rPr lang="en-US" dirty="0"/>
              <a:t>List at least </a:t>
            </a:r>
            <a:r>
              <a:rPr lang="en-US" b="1" dirty="0"/>
              <a:t>5 functional requirements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List at least </a:t>
            </a:r>
            <a:r>
              <a:rPr lang="en-US" b="1" dirty="0"/>
              <a:t>3 non-functional requirements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Suggest appropriate requirement gathering techniques. </a:t>
            </a:r>
          </a:p>
          <a:p>
            <a:pPr lvl="0"/>
            <a:r>
              <a:rPr lang="en-US" dirty="0"/>
              <a:t>Explain possible challenges in requirement engineering for this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55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Office PowerPoint</Application>
  <PresentationFormat>Widescreen</PresentationFormat>
  <Paragraphs>92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Requirement Engineering</vt:lpstr>
      <vt:lpstr>Feasibility Study</vt:lpstr>
      <vt:lpstr>Continue..</vt:lpstr>
      <vt:lpstr>Continue..</vt:lpstr>
      <vt:lpstr>Continue..</vt:lpstr>
      <vt:lpstr>Continue..</vt:lpstr>
      <vt:lpstr>Continue..</vt:lpstr>
      <vt:lpstr>Requirement Elicitation</vt:lpstr>
      <vt:lpstr>PowerPoint Presentation</vt:lpstr>
      <vt:lpstr>PowerPoint Presentation</vt:lpstr>
      <vt:lpstr>Class Task</vt:lpstr>
      <vt:lpstr>Conti…</vt:lpstr>
      <vt:lpstr>Conti…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Farah Naz Anika/SE</dc:creator>
  <cp:lastModifiedBy>Farah Naz Anika/SE</cp:lastModifiedBy>
  <cp:revision>1</cp:revision>
  <dcterms:created xsi:type="dcterms:W3CDTF">2026-04-12T18:06:23Z</dcterms:created>
  <dcterms:modified xsi:type="dcterms:W3CDTF">2026-04-12T18:06:23Z</dcterms:modified>
</cp:coreProperties>
</file>